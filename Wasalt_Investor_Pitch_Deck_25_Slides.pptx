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EA5E9"/>
                </a:solidFill>
                <a:latin typeface="Segoe UI"/>
              </a:defRPr>
            </a:pPr>
            <a:r>
              <a:t>WASALT TRANSIT PLATFORM</a:t>
            </a:r>
          </a:p>
          <a:p>
            <a:pPr>
              <a:spcBef>
                <a:spcPts val="800"/>
              </a:spcBef>
              <a:defRPr sz="2400" b="1">
                <a:solidFill>
                  <a:srgbClr val="F8FAFC"/>
                </a:solidFill>
                <a:latin typeface="Segoe UI"/>
              </a:defRPr>
            </a:pPr>
            <a:r>
              <a:t>Digitizing Mass Transit in Greater Cairo &amp; Egypt</a:t>
            </a:r>
          </a:p>
          <a:p>
            <a:pPr>
              <a:spcBef>
                <a:spcPts val="1200"/>
              </a:spcBef>
              <a:defRPr sz="1500">
                <a:solidFill>
                  <a:srgbClr val="38BDF8"/>
                </a:solidFill>
                <a:latin typeface="Segoe UI"/>
              </a:defRPr>
            </a:pPr>
            <a:r>
              <a:t>The Zero-CapEx Telematics Platform &amp; Driver Profit-Sharing Moat</a:t>
            </a:r>
          </a:p>
          <a:p>
            <a:pPr>
              <a:spcBef>
                <a:spcPts val="2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Empowering 13 Million Daily Commuters  |  Turning Drivers into Partners  |  37.0% EBITDA Margin</a:t>
            </a:r>
          </a:p>
          <a:p>
            <a:pPr>
              <a:spcBef>
                <a:spcPts val="1600"/>
              </a:spcBef>
              <a:defRPr sz="1100">
                <a:solidFill>
                  <a:srgbClr val="F59E0B"/>
                </a:solidFill>
                <a:latin typeface="Segoe UI"/>
              </a:defRPr>
            </a:pPr>
            <a:r>
              <a:t>Seed Stage Investment Pitch  •  September 2026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Wasalt at a Glance: High-Impact Urban Mobility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Connecting millions of Egyptian commuters to reliable, real-time public transit.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WASALT TRANSIT PLATFORM  |  CONFIDENTIAL INVESTOR 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02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Massive Problem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13M+ daily passengers in Greater Cairo rely on buses with zero live tracking.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Commuters waste 35–55 minutes of idle anxiety daily waiting at stops.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Traffic friction costs Egypt EGP 50B+ (~$8B USD) annually (4% of GDP).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Our Solution &amp; Moat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100% Smartphone Telematics: Zero hardware boxes installed on buses.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50% Driver Profit Share: Drivers earn 1,315 EGP/mo, ensuring 99%+ GPS uptime.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Zero-Cost Cartography: OpenStreetMap integration eliminates costly map APIs.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Investment Highlights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High Margins: Year 1 gross revenue of 3.15M EGP with 37.0% EBITDA margin.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Micro-Unit Breakeven: Just 66 paying commuters fund an entire bus route.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Defensible Beachhead: Starting with 1,800 licensed private minibuses.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THE PAIN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Cairo's Daily Transit Crisis: Anxiety, Blindness &amp; Lost Hours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Why urban transit in Africa's largest metropolis is fundamentally broken.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WASALT TRANSIT PLATFORM  |  CONFIDENTIAL INVESTOR 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03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35–55 Minutes Lost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Commuters stand blindly at dusty stops without knowing if their bus passed 2 minutes ago or won't arrive for an hour.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Blind Fleet Operators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Transit dispatchers and fleet owners have zero real-time visibility into vehicle positions, speeding, or bunching.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Severe Economic Drain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World Bank Report 85848 established that Cairo congestion wastes EGP 50+ Billion annually (3.6% to 4.0% of GDP).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Safety &amp; Family Anxiety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Parents have no way to verify when their children or elderly family members safely board or arrive at their destinations.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MARKET TEARDOWN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Why Previous Tracking Apps Failed: The Ghost Bus Trap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Hardwired devices created false promises and consumer outrage.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WASALT TRANSIT PLATFORM  |  CONFIDENTIAL INVESTOR 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04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The Failed Traditional Model (Tawwaly / Mowaslat Misr)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1. Expensive Hardware: Installed $150–$300 OBD GPS black boxes in buses.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2. Ignored the Driver: Drivers were unpaid, unmotivated, and felt surveilled.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3. Deliberate Sabotage: Drivers unplugged antennas or shut off power switches.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4. The Ghost Bus Outrage: Apps showed buses that never arrived, destroying public trust and leading to mass uninstalls.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The Wasalt Defensible Flywheel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1. Zero Hardware ($0 CapEx): Operates purely via the driver's existing smartphone.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2. Driver is a Partner: Drivers receive 50% of platform revenue (1,315 EGP/mo).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3. Guaranteed 99%+ Uptime: Financial incentive makes drivers our quality champions.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4. Genuine Reliability: Commuters trust live dots because verified drivers are behind every broadcast.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The Wasalt Tri-Sided Transit Ecosystem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Seamlessly unifying Commuters, Bus Drivers, and Fleet Dispatchers.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WASALT TRANSIT PLATFORM  |  CONFIDENTIAL INVESTOR 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05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1. Commuter App</a:t>
            </a:r>
          </a:p>
          <a:p>
            <a:pPr>
              <a:spcAft>
                <a:spcPts val="1400"/>
              </a:spcAft>
              <a:defRPr sz="1300">
                <a:solidFill>
                  <a:srgbClr val="94A3B8"/>
                </a:solidFill>
              </a:defRPr>
            </a:pPr>
            <a:r>
              <a:t>Mobile experience on iOS &amp; Android offering live map tracking, 1-second arrival countdowns, crowding status, and family safety sharing.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Value Delivered: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Eliminates wait anxiety</a:t>
            </a:r>
            <a:br/>
            <a:r>
              <a:t>• 35+ mins saved daily</a:t>
            </a:r>
            <a:br/>
            <a:r>
              <a:t>• 100% peace of mind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2. Driver Beacon</a:t>
            </a:r>
          </a:p>
          <a:p>
            <a:pPr>
              <a:spcAft>
                <a:spcPts val="1400"/>
              </a:spcAft>
              <a:defRPr sz="1300">
                <a:solidFill>
                  <a:srgbClr val="94A3B8"/>
                </a:solidFill>
              </a:defRPr>
            </a:pPr>
            <a:r>
              <a:t>Ultra-simple driver HUD streaming high-precision GPS every 1 second, with automated trip management and monthly incentive earnings trackers.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Value Delivered: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Supplemental monthly income</a:t>
            </a:r>
            <a:br/>
            <a:r>
              <a:t>• Fuel &amp; internet allowance</a:t>
            </a:r>
            <a:br/>
            <a:r>
              <a:t>• Professional dignity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7472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3. Admin Command</a:t>
            </a:r>
          </a:p>
          <a:p>
            <a:pPr>
              <a:spcAft>
                <a:spcPts val="1400"/>
              </a:spcAft>
              <a:defRPr sz="1300">
                <a:solidFill>
                  <a:srgbClr val="94A3B8"/>
                </a:solidFill>
              </a:defRPr>
            </a:pPr>
            <a:r>
              <a:t>Dispatcher web portal providing multi-fleet oversight, visual route editing, driver assignments, and live emergency telemetry controls.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Value Delivered: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Real-time fleet telematics</a:t>
            </a:r>
            <a:br/>
            <a:r>
              <a:t>• Zero hardware maintenance</a:t>
            </a:r>
            <a:br/>
            <a:r>
              <a:t>• Complete operational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COMPETITIVE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The 50% Driver Profit Share: Turning Skeptics into Partners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Why our unit economics solve the single greatest vulnerability in transit tech.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WASALT TRANSIT PLATFORM  |  CONFIDENTIAL INVESTOR 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06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Driver Compensation Architecture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Drivers are the heartbeat of Egyptian transit. Rather than penalizing or surveilling them, Wasalt allocates 50.0% of top-line revenue directly to active drivers.</a:t>
            </a:r>
          </a:p>
          <a:p>
            <a:pPr>
              <a:spcAft>
                <a:spcPts val="600"/>
              </a:spcAft>
              <a:defRPr sz="1300" b="1">
                <a:solidFill>
                  <a:srgbClr val="0EA5E9"/>
                </a:solidFill>
              </a:defRPr>
            </a:pPr>
            <a:r>
              <a:t>Monthly Package (1,315 EGP / Month):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1,115 EGP Base Cash Stipend: Paid directly into driver's mobile wallet for maintaining active transmission during assigned shifts.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200 EGP Data &amp; Maintenance Quota: Reimburses high-speed 4G data bundles and durable windshield phone mounts.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Why This Creates an Unbeatable Moat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99%+ Verified GPS Uptime: Drivers actively open Wasalt before turning their ignition because their stipend depends on transmission continuity.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Peer Accountability: Drivers remind fellow depot drivers to run the app so their shared route maintains a 5-star commuter rating.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No Competitor Poaching: Any competitor attempting to enter the market without matching this 50% driver revenue share will face immediate driver boycotts.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Zero Installation Friction: Onboarding a driver takes 3 minutes via Google Play download — zero garage downtime or mechanic fees.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PRODUCT FEATURES: PASSENGER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Everyday Commuter Experience: Live Map, Line Search &amp; ETAs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Empowering passengers to leave home exactly when their bus is approaching.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WASALT TRANSIT PLATFORM  |  CONFIDENTIAL INVESTOR 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07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Live Interactive Map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Commuters see animated bus icons pulsing in real-time along actual Cairo streets with zero page reloads or lag.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Smart Line Directory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Instant search by bus number, line code, destination landmark, or operating company (CTA, BRT, Mwaslat Misr).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High-Accuracy ETAs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Dynamic arrival times calculated using traffic-aware transit velocity profiles tailored to Egyptian bottleneck conditions.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Egyptian Landmark Presets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Search by real cultural landmarks (Tahrir, Ramses, Nasr City, Pyramids, Cairo Festival City) without confusing street names.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PRODUCT FEATURES: FAMILY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Peace of Mind: Proactive Notifications &amp; Family Safety Sharing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Turning routine commutes into transparent, stress-free daily journeys.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WASALT TRANSIT PLATFORM  |  CONFIDENTIAL INVESTOR 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08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Dynamic Proximity Alerts (Standard Tier)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Commuters no longer need to keep their eyes glued to the phone screen: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'Bus is 2 Stops Away': Timely heads-up to step out of the office or cafe.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'Approaching Destination': Wake-up reminder for sleepy commuters before their terminal.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'Route Disruption Warning': Preemptively alerts commuters if abnormal delays occur ahead.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Live Family Safety Sharing (Family Tier)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In Egyptian culture, family safety is paramount. Wasalt Family Tier (17 EGP/user) delivers unprecedented peace of mind: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Boarding Verification: Parents get notified the moment their child boards their designated school or university bus.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Real-Time Journey Tracking: Track loved ones safely in real time without having to call or distract them while traveling.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Geofence Arrival Confirmation: Automatic notifications when family members arrive safely at home, school, or depot.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One-Tap Emergency SOS: Instant location broadcast to family members if an emergency occurs.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PRODUCT FEATURES: DRIVER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Frictionless Driver HUD: One-Tap Broadcast &amp; Earnings Tracking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Designed specifically for non-technical drivers operating in chaotic traffic.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WASALT TRANSIT PLATFORM  |  CONFIDENTIAL INVESTOR 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09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1-Tap Start / Stop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Zero Cognitive Load: Large high-contrast touch targets usable with one finger.</a:t>
            </a:r>
            <a:br/>
            <a:br/>
            <a:r>
              <a:t>• Line Selection: Driver chooses their assigned line from a pre-configured company dropdown.</a:t>
            </a:r>
            <a:br/>
            <a:br/>
            <a:r>
              <a:t>• Automated Broadcast: Starts streaming 1-second GPS immediately upon tapping 'Start Sharing'.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Live Earnings Dashboard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Transparent Progress: Live progress ring showing monthly hours completed toward their 1,315 EGP payout.</a:t>
            </a:r>
            <a:br/>
            <a:br/>
            <a:r>
              <a:t>• Instant Gratification: Drivers see their estimated earnings climb with every completed shift.</a:t>
            </a:r>
            <a:br/>
            <a:br/>
            <a:r>
              <a:t>• Direct Mobile Payouts: Integrates with Vodafone Cash, Orange Cash, and InstaPay.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Operational Safety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Concurrency Shield: Prevents account sharing or ghost streaming across multiple devices.</a:t>
            </a:r>
            <a:br/>
            <a:br/>
            <a:r>
              <a:t>• Background Resiliency: Continues streaming seamlessly even when screen locks or navigation apps overlay.</a:t>
            </a:r>
            <a:br/>
            <a:br/>
            <a:r>
              <a:t>• Battery Optimization: Highly tuned location service consumes &lt;8% phone battery per 7-hour shift.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PRODUCT FEATURES: B2B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Wasalt Command Center: Complete Fleet Visibility for Operators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The enterprise web console giving dispatchers real-time command over their fleets.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WASALT TRANSIT PLATFORM  |  CONFIDENTIAL INVESTOR 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10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Core Dispatch Modules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Live Fleet Overview Map: See every bus in motion across Cairo with instant status badges (Active, Idle, Delayed).</a:t>
            </a:r>
            <a:br/>
            <a:br/>
            <a:r>
              <a:t>• Visual Route Builder: Non-technical dispatchers can click anywhere on the map to create new bus routes or adjust terminals.</a:t>
            </a:r>
            <a:br/>
            <a:br/>
            <a:r>
              <a:t>• Multi-Operator Isolation: Strict role-based access allows company admins (e.g. CTA vs BRT) to view only their vehicles.</a:t>
            </a:r>
            <a:br/>
            <a:br/>
            <a:r>
              <a:t>• Driver Dispatch Directory: One-click line assignment, credential management, and live phone contacts.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Enterprise Safety &amp; Control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Emergency Broadcast Cutoff: One-click killswitch immediately stops compromised or errant vehicle location streams.</a:t>
            </a:r>
            <a:br/>
            <a:br/>
            <a:r>
              <a:t>• Master Admin 2FA: Hardened security gateway protected by RFC 6238 TOTP (Google/Microsoft Authenticator).</a:t>
            </a:r>
            <a:br/>
            <a:br/>
            <a:r>
              <a:t>• Database Hygiene Scanner: Automated detection and cleanup of corrupt or duplicate database records.</a:t>
            </a:r>
            <a:br/>
            <a:br/>
            <a:r>
              <a:t>• Commuter Analytics: Search and inspect passenger trip volume, peak travel hours, and route demand trends.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Market Sizing: Capturing Africa's Densest Transit Market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A multi-million commuter base ripe for digital transformation.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WASALT TRANSIT PLATFORM  |  CONFIDENTIAL INVESTOR 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11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TAM: Greater Cairo Transit</a:t>
            </a:r>
          </a:p>
          <a:p>
            <a:pPr>
              <a:spcAft>
                <a:spcPts val="1400"/>
              </a:spcAft>
              <a:defRPr sz="1800" b="1">
                <a:solidFill>
                  <a:srgbClr val="F8FAFC"/>
                </a:solidFill>
              </a:defRPr>
            </a:pPr>
            <a:r>
              <a:t>20M+ Person-Trips / Day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Over 20 million motorized person-trips occur daily across Cairo, Giza, and Qalyubia, with 63%–66% relying on collective mass transit.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SAM: Rubber-Tire Buses</a:t>
            </a:r>
          </a:p>
          <a:p>
            <a:pPr>
              <a:spcAft>
                <a:spcPts val="1400"/>
              </a:spcAft>
              <a:defRPr sz="1800" b="1">
                <a:solidFill>
                  <a:srgbClr val="0EA5E9"/>
                </a:solidFill>
              </a:defRPr>
            </a:pPr>
            <a:r>
              <a:t>8.5M+ Daily Commuters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Large public buses and collective minibuses carry &gt;68% of all mass transit journeys across 4,300+ registered transit buses.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7472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SOM: Year 1–2 Target</a:t>
            </a:r>
          </a:p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100K Daily Commuters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Targeting 50,000 active app users across 100–120 buses operating on Cairo's top 10 high-density transit corridors.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GO-TO-MARKET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Beachhead Fleet: Starting with Private Minibus Concessionaires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Eliminating municipal red tape to achieve rapid commercial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WASALT TRANSIT PLATFORM  |  CONFIDENTIAL INVESTOR 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12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Phase 1 Beachhead: Private Concessionaires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Target: ~1,800 licensed collective transport minibuses (مشروع النقل الجماعي).</a:t>
            </a:r>
            <a:br/>
            <a:br/>
            <a:r>
              <a:t>• Key Operators: Mwaslat Misr, English Bus, El-Rowad, Lotus, El-Bahr El-Ahmar.</a:t>
            </a:r>
            <a:br/>
            <a:br/>
            <a:r>
              <a:t>• Why They Move Fast: Private companies have immediate commercial decision-making authority without municipal bureaucracy.</a:t>
            </a:r>
            <a:br/>
            <a:br/>
            <a:r>
              <a:t>• Driver Alignment: Drivers are private contractors eager for 1,315 EGP supplemental monthly stipends.</a:t>
            </a:r>
            <a:br/>
            <a:br/>
            <a:r>
              <a:t>• Fast Rollout: 100 buses across 10 trunk lines in 60 days.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Phase 2 &amp; 3 Expansion: Municipal &amp; BRT Fleets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Cairo Transport Authority (CTA): ~2,500 full-size public buses.</a:t>
            </a:r>
            <a:br/>
            <a:br/>
            <a:r>
              <a:t>• Institutional MoU: Approach the Ministry of Local Development and CTA with proven Phase 1 reliability metrics for an official digital pilot.</a:t>
            </a:r>
            <a:br/>
            <a:br/>
            <a:r>
              <a:t>• Ring Road BRT: 100 electric buses operating along the 106-km corridor across 49 stations.</a:t>
            </a:r>
            <a:br/>
            <a:br/>
            <a:r>
              <a:t>• Intercity Operators: Expand into premium long-distance coaches (Super Jet, Go Bus, West &amp; Mid Delta).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REVENUE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Consumer Monetization: The 3-Tier Micro-Subscription Model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Balancing viral organic commuter adoption with recurring subscription cash 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WASALT TRANSIT PLATFORM  |  CONFIDENTIAL INVESTOR 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13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Tier 1: Free (Ad-Supported)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0 EGP  •  80% of Users (40,000)</a:t>
            </a:r>
          </a:p>
          <a:p>
            <a:pPr>
              <a:spcAft>
                <a:spcPts val="1200"/>
              </a:spcAft>
              <a:defRPr sz="1200" b="1">
                <a:solidFill>
                  <a:srgbClr val="F8FAFC"/>
                </a:solidFill>
              </a:defRPr>
            </a:pPr>
            <a:r>
              <a:t>Revenue: 72,000 EGP / Mo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Real-time map &amp; line search</a:t>
            </a:r>
            <a:br/>
            <a:r>
              <a:t>• 1 saved favorite route</a:t>
            </a:r>
            <a:br/>
            <a:r>
              <a:t>• Monetized via non-intrusive route banners &amp; search interstitials</a:t>
            </a:r>
            <a:br/>
            <a:r>
              <a:t>• Generates 2.4M impressions/mo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Tier 2: Standard Plan</a:t>
            </a:r>
          </a:p>
          <a:p>
            <a:pPr>
              <a:spcAft>
                <a:spcPts val="400"/>
              </a:spcAft>
              <a:defRPr sz="1300" b="1">
                <a:solidFill>
                  <a:srgbClr val="0EA5E9"/>
                </a:solidFill>
              </a:defRPr>
            </a:pPr>
            <a:r>
              <a:t>20 EGP / Mo  •  14% of Users (7,000)</a:t>
            </a:r>
          </a:p>
          <a:p>
            <a:pPr>
              <a:spcAft>
                <a:spcPts val="1200"/>
              </a:spcAft>
              <a:defRPr sz="1200" b="1">
                <a:solidFill>
                  <a:srgbClr val="F8FAFC"/>
                </a:solidFill>
              </a:defRPr>
            </a:pPr>
            <a:r>
              <a:t>Revenue: 140,000 EGP / Mo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100% Ad-Free experience</a:t>
            </a:r>
            <a:br/>
            <a:r>
              <a:t>• Dynamic push notifications ('Bus is 2 stops away')</a:t>
            </a:r>
            <a:br/>
            <a:r>
              <a:t>• Unlimited saved favorite lines</a:t>
            </a:r>
            <a:br/>
            <a:r>
              <a:t>• Bus crowding indicators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7472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Tier 3: Family Safety</a:t>
            </a:r>
          </a:p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</a:defRPr>
            </a:pPr>
            <a:r>
              <a:t>17 EGP / User  •  6% of Users (3,000)</a:t>
            </a:r>
          </a:p>
          <a:p>
            <a:pPr>
              <a:spcAft>
                <a:spcPts val="1200"/>
              </a:spcAft>
              <a:defRPr sz="1200" b="1">
                <a:solidFill>
                  <a:srgbClr val="F8FAFC"/>
                </a:solidFill>
              </a:defRPr>
            </a:pPr>
            <a:r>
              <a:t>Revenue: 51,000 EGP / Mo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15% discount (min 3 users = 51 EGP/mo)</a:t>
            </a:r>
            <a:br/>
            <a:r>
              <a:t>• Live Family Safety Sharing</a:t>
            </a:r>
            <a:br/>
            <a:r>
              <a:t>• Boarding &amp; arrival confirmations</a:t>
            </a:r>
            <a:br/>
            <a:r>
              <a:t>• One-tap SOS emergency alert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Micro-Unit Breakeven: How 66 Passengers Fund an Entire Bus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The power of hyper-local transit network effects.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WASALT TRANSIT PLATFORM  |  CONFIDENTIAL INVESTOR 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14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Single Bus Unit Economics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Total Monthly Bus Cost: 1,315 EGP (100% driver compensation pool).</a:t>
            </a:r>
            <a:br/>
            <a:br/>
            <a:r>
              <a:t>• Standard Tier Price: 20 EGP / user / month.</a:t>
            </a:r>
            <a:br/>
            <a:br/>
            <a:r>
              <a:t>• Paying Subscriber Breakeven: Just 66 paying commuters on that bus line fully fund the driver's monthly stipend.</a:t>
            </a:r>
            <a:br/>
            <a:br/>
            <a:r>
              <a:t>• Blended Community Breakeven: At our blended average revenue per user (5.26 EGP), exactly 250 total commuters (free + paid) achieve total breakeven.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Corridor Reality Check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Cairo Daily Ridership per Bus: A single 26-seat minibus makes 6–8 round-trips daily, carrying 800 to 1,200 passengers every day.</a:t>
            </a:r>
            <a:br/>
            <a:br/>
            <a:r>
              <a:t>• Trivial Penetration Needed: Capturing just 250 commuters out of 1,000 daily riders represents a mere 25% route penetration.</a:t>
            </a:r>
            <a:br/>
            <a:br/>
            <a:r>
              <a:t>• Pure Profit Margin: Every subscriber beyond user #66 flows directly to bottom-line platform profit.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FINANCIAL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Year 1 Pro Forma P&amp;L: 3.15M EGP Revenue with 37.0% EBITDA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Asset-light software economics driving strong operating profitability.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WASALT TRANSIT PLATFORM  |  CONFIDENTIAL INVESTOR 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15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621792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Year 1 P&amp;L Statement (100 Fleet Buses / 50k Users)</a:t>
            </a:r>
          </a:p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• Gross Revenue (Ads + Subscriptions): +263,000 EGP / mo  (+3,156,000 EGP / yr)  [100.0%]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</a:defRPr>
            </a:pPr>
            <a:r>
              <a:t>• Driver Profit Share (50% Pool): (131,500 EGP) / mo  ((1,578,000 EGP) / yr)  [50.0%]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</a:defRPr>
            </a:pPr>
            <a:r>
              <a:t>• Cloud &amp; Telemetry Infrastructure: (3,500 EGP) / mo  ((42,000 EGP) / yr)  [1.3%]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</a:defRPr>
            </a:pPr>
            <a:r>
              <a:t>• Payment Gateway Processing (~3%): (5,730 EGP) / mo  ((68,760 EGP) / yr)  [2.2%]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</a:defRPr>
            </a:pPr>
            <a:r>
              <a:t>• Operations, Community &amp; Marketing: (25,000 EGP) / mo  ((300,000 EGP) / yr)  [9.5%]</a:t>
            </a:r>
          </a:p>
          <a:p>
            <a:pPr>
              <a:spcAft>
                <a:spcPts val="400"/>
              </a:spcAft>
              <a:defRPr sz="1100" b="1">
                <a:solidFill>
                  <a:srgbClr val="F59E0B"/>
                </a:solidFill>
              </a:defRPr>
            </a:pPr>
            <a:r>
              <a:t>• Total Operating Expenses (OpEx): (165,730 EGP) / mo  ((1,988,760 EGP) / yr)  [63.0%]</a:t>
            </a:r>
          </a:p>
          <a:p>
            <a:pPr>
              <a:spcAft>
                <a:spcPts val="400"/>
              </a:spcAft>
              <a:defRPr sz="1100" b="1">
                <a:solidFill>
                  <a:srgbClr val="0EA5E9"/>
                </a:solidFill>
              </a:defRPr>
            </a:pPr>
            <a:r>
              <a:t>• Net Operating Profit (EBITDA): +97,270 EGP / mo  (+1,167,240 EGP / yr)  [37.0%]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645920"/>
            <a:ext cx="411480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Key Financial Metrics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37.0% EBITDA Margin: Highly cash-generative in Year 1.</a:t>
            </a:r>
            <a:br/>
            <a:br/>
            <a:r>
              <a:t>• Zero CapEx: No hardware depreciation or fleet debt.</a:t>
            </a:r>
            <a:br/>
            <a:br/>
            <a:r>
              <a:t>• Cash-Flow Positive: From Month 4 as paying subscriber tiers activate.</a:t>
            </a:r>
            <a:br/>
            <a:br/>
            <a:r>
              <a:t>• Negative Working Capital: Commuter subscriptions paid upfront.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GROWTH &amp;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3-Year Expansion Roadmap: From 100 Buses to 2,500 Fleet Scale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A proven trajectory expanding across Greater Cairo and Egyptian intercity transit.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WASALT TRANSIT PLATFORM  |  CONFIDENTIAL INVESTOR 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16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Year 1: Beachhead</a:t>
            </a:r>
          </a:p>
          <a:p>
            <a:pPr>
              <a:spcAft>
                <a:spcPts val="1000"/>
              </a:spcAft>
              <a:defRPr sz="1300" b="1">
                <a:solidFill>
                  <a:srgbClr val="0EA5E9"/>
                </a:solidFill>
              </a:defRPr>
            </a:pPr>
            <a:r>
              <a:t>100 Buses  |  50k Users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Focus: 10 Cairo trunk corridors (Nasr City, Tahrir, New Cairo, Giza)</a:t>
            </a:r>
            <a:br/>
            <a:r>
              <a:t>• Revenue: 3.15M EGP / yr</a:t>
            </a:r>
            <a:br/>
            <a:r>
              <a:t>• EBITDA: 1.16M EGP (37.0%)</a:t>
            </a:r>
            <a:br/>
            <a:r>
              <a:t>• 1,800 private minibus integration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Year 2: Citywide Scale</a:t>
            </a:r>
          </a:p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</a:defRPr>
            </a:pPr>
            <a:r>
              <a:t>500 Buses  |  250k Users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Expansion: All Greater Cairo private concessionaires + university shuttles</a:t>
            </a:r>
            <a:br/>
            <a:r>
              <a:t>• Revenue: ~15.8M EGP / yr</a:t>
            </a:r>
            <a:br/>
            <a:r>
              <a:t>• Introduction of QR mobile ticketing</a:t>
            </a:r>
            <a:br/>
            <a:r>
              <a:t>• Government smart-city 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7472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Year 3: National Transit</a:t>
            </a:r>
          </a:p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</a:defRPr>
            </a:pPr>
            <a:r>
              <a:t>2,500 Buses  |  1.2M Users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Full CTA municipal fleet + Ring Road BRT + Intercity coach lines</a:t>
            </a:r>
            <a:br/>
            <a:r>
              <a:t>• Revenue: ~78.0M EGP / yr</a:t>
            </a:r>
            <a:br/>
            <a:r>
              <a:t>• Swarm intelligence routing live</a:t>
            </a:r>
            <a:br/>
            <a:r>
              <a:t>• Transit data API monetization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Competitive Landscape: Why Wasalt Dominates the Market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Comparing Wasalt with traditional solutions, private vans, and static apps.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WASALT TRANSIT PLATFORM  |  CONFIDENTIAL INVESTOR 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17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Competitive Feature &amp; Economic Comparison</a:t>
            </a:r>
          </a:p>
          <a:p>
            <a:pPr>
              <a:spcAft>
                <a:spcPts val="400"/>
              </a:spcAft>
              <a:defRPr sz="1000" b="1">
                <a:solidFill>
                  <a:srgbClr val="0EA5E9"/>
                </a:solidFill>
                <a:latin typeface="Consolas"/>
              </a:defRPr>
            </a:pPr>
            <a:r>
              <a:t>Feature / Metric          | Wasalt Transit       | Tawwaly / Mowaslat Misr | Swvl                 | Static Apps (Mwaslatak)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Hardware Cost             | $0 (Smartphone)      | $150–$300 OBD Unit     | $0 (Van Contract)    | $0 (No Hardware)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Live GPS Tracking         | Yes (1-Second Continuous) | Broken / Disconnected  | Yes (Private Vans)   | No (Static Only)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Driver Incentive          | Yes (50% Profit Share) | No ($0 Additional)     | Variable Contract    | None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Ghost Bus Risk            | Eliminated (&lt;1%)     | Notorious (&gt;40%)       | Low                  | N/A (No Tracking)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Affordability             | 0–20 EGP / month     | Ticket Only            | 600–1,200 EGP / mo   | Free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Fleet Scalability         | Instant (App Download) | Slow (Wiring Needed)   | Capital Intensive    | Static Data Only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R&amp;D INNOVATION: SWARM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Swarm Intelligence: Dynamic Congestion Avoidance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Turning our bus fleet into a real-time distributed urban sensor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WASALT TRANSIT PLATFORM  |  CONFIDENTIAL INVESTOR 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18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How Swarm Intelligence Works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Distributed Mobile Probes: Every bus acts as a moving probe streaming velocity and location every second.</a:t>
            </a:r>
            <a:br/>
            <a:br/>
            <a:r>
              <a:t>• Anomaly Detection: When a leading bus experiences an unexpected 40%+ drop in speed along Abbas El-Akkad or the Ring Road, the swarm engine registers an active bottleneck.</a:t>
            </a:r>
            <a:br/>
            <a:br/>
            <a:r>
              <a:t>• Zero Third-Party API Dependence: We don't pay Google Traffic — our own fleet creates a hyper-accurate, real-time map of Cairo congestion.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Commuter &amp; Dispatch Value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Proactive Rerouting Alerts: Trailing drivers receive instant bypass recommendations on their HUD to take flyovers or parallel avenues.</a:t>
            </a:r>
            <a:br/>
            <a:br/>
            <a:r>
              <a:t>• Self-Healing ETAs: Passenger countdowns adjust dynamically from 5 minutes to 14 minutes before commuters get frustrated at the stop.</a:t>
            </a:r>
            <a:br/>
            <a:br/>
            <a:r>
              <a:t>• Municipal Congestion Heatmaps: High-value macro telematics data monetizable to urban planners and government transit ministries.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R&amp;D INNOVATION: CROWDING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Automated Crowding Detection: Green, Yellow &amp; Red Bus Density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Solving the #1 commuter frustration: waiting for a bus that arrives completely full.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WASALT TRANSIT PLATFORM  |  CONFIDENTIAL INVESTOR 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19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Multi-Sensor Edge AI Detection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How Wasalt detects passenger density without installing expensive cameras: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Bluetooth LE Sniffing: Scans nearby broadcasting smartphone UUIDs to gauge passenger counts with 100% privacy compliance (MACs hashed, zero PII).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Cabin Acoustic Signatures: Driver phone samples ambient decibel chatter to distinguish empty vs packed cabins.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Inertial Vehicle Dynamics: Phone accelerometers measure vehicle acceleration curves to infer gross vehicle payload weight.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Commuter Visual Status Indicators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🟢 Green (Seats Available): Commuters know they can board and find a comfortable seat.</a:t>
            </a:r>
            <a:br/>
            <a:br/>
            <a:r>
              <a:t>• 🟡 Yellow (Standing Room Only): Commuter can decide whether to board or wait 5 minutes for the next bus.</a:t>
            </a:r>
            <a:br/>
            <a:br/>
            <a:r>
              <a:t>• 🔴 Red (Completely Full): Saves commuter the frustration of signaling a bus that passes by without stopping.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R&amp;D INNOVATION: TRANSIT PHYSICS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Anti-Bunching Protocol: Eliminating 'Two Buses Arrive Together'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Algorithmic headway regularization ensuring steady, predictable arrival intervals.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WASALT TRANSIT PLATFORM  |  CONFIDENTIAL INVESTOR 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20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The Classic Transit Physics Flaw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The Vicious Cycle: When a leading bus is delayed by 3 minutes, it encounters more waiting passengers, delaying it further.</a:t>
            </a:r>
            <a:br/>
            <a:br/>
            <a:r>
              <a:t>• The Trailing Bus Speeds Up: Because fewer passengers wait at stops, the trailing bus speeds up until both buses arrive bumper-to-bumper.</a:t>
            </a:r>
            <a:br/>
            <a:br/>
            <a:r>
              <a:t>• The Commuter Disaster: Passengers experience a 45-minute void followed by two buses arriving at the exact same second.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Wasalt Headway Regularization Algorithm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Continuous Headway Tracking: System measures dynamic interval H = t2 - t1 between consecutive buses on the line.</a:t>
            </a:r>
            <a:br/>
            <a:br/>
            <a:r>
              <a:t>• Pacing Guidance on Driver HUD: If headway compresses below 35% of nominal, the trailing driver receives a gentle 'Hold 90 Seconds' prompt at a major terminal.</a:t>
            </a:r>
            <a:br/>
            <a:br/>
            <a:r>
              <a:t>• Express Mode for Lead Bus: Leading bus is authorized to skip low-demand stops to restore ideal 8-minute intervals.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FUTURE HORIZONS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Digital QR Micro-Ticketing: Cashless Boarding via InstaPay &amp; Meeza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Transitioning Egypt's mass transit from coin change to instant digital boarding.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WASALT TRANSIT PLATFORM  |  CONFIDENTIAL INVESTOR 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21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The Cashless Commute Experience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1-Tap QR Ticket: Commuters buy single-ride passes or monthly route bundles directly in the Wasalt app.</a:t>
            </a:r>
            <a:br/>
            <a:br/>
            <a:r>
              <a:t>• Camera Validation: The driver's existing smartphone camera scans and validates dynamic encrypted QR codes in &lt;0.5 seconds.</a:t>
            </a:r>
            <a:br/>
            <a:br/>
            <a:r>
              <a:t>• Zero Extra Hardware: No card validators or RFID turnstiles to maintain or repair.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Transaction Fee Revenue Stream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Automated Split: 80% paid directly to fleet operator; 20% retained by Wasalt platform.</a:t>
            </a:r>
            <a:br/>
            <a:br/>
            <a:r>
              <a:t>• National Payment Rails: Full integration with InstaPay (IPN), Meeza digital cards, and Vodafone/Orange/Etisalat Cash.</a:t>
            </a:r>
            <a:br/>
            <a:br/>
            <a:r>
              <a:t>• Massive Volume Potential: 100 buses processing 500 digital rides/day = 1.5M monthly transactions.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STRATEGIC DEFENSIBILITY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Regulatory Alignment: Backing Egypt's Smart Cities Vision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Building sustainable public-private partnerships under national digital transformation.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WASALT TRANSIT PLATFORM  |  CONFIDENTIAL INVESTOR 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22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National Policy Alignment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Vision 2030 Support: Directly advances Egyptian Sustainable Development Goals (decongestion, carbon emissions reduction, cashless transition).</a:t>
            </a:r>
            <a:br/>
            <a:br/>
            <a:r>
              <a:t>• Zero Capital Burden: Solves the Cairo Transport Authority's telematics deficit without requiring millions in government procurement grants.</a:t>
            </a:r>
            <a:br/>
            <a:br/>
            <a:r>
              <a:t>• New Administrative Capital (NAC): Natural expansion corridor for intelligent electric transit tracking.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Data &amp; Institutional Defensibility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Ministry of Local Development MoU: Formalized digital framework for passenger information dissemination.</a:t>
            </a:r>
            <a:br/>
            <a:br/>
            <a:r>
              <a:t>• Proprietary Urban Transit Graph: Proprietary geospatial map of Cairo transit stop dwell times, route bottleneck indices, and hourly corridor demand.</a:t>
            </a:r>
            <a:br/>
            <a:br/>
            <a:r>
              <a:t>• High Switching Costs: Once drivers earn 1,315 EGP/mo and operators rely on our dispatch board, platform lock-in is permanent.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EXECUTION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Go-To-Market Strategy: Corridor-by-Corridor Virality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How we achieve 50,000 active users in 12 months with minimal CAC.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WASALT TRANSIT PLATFORM  |  CONFIDENTIAL INVESTOR 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23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Step 1: Depot Lock-In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Onboard 10–12 private bus depots servicing Cairo's highest-volume trunk lines (Abdel Moneim Riad, Ramses, Nasr City, New Cairo).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Step 2: Bus QR Stickers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Place high-visibility QR decals on bus windows ('Track this bus live on your phone — download Wasalt') turning every vehicle into a billboard.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Step 3: Commuter Viral Loops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Commuters share live bus links with colleagues and family ('Bus is 5 mins away, hurry down!'), driving zero-cost organic installs.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Step 4: Micro-Subscriptions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Offer free 30-day trials of Family Safety and Ad-Free alerts, converting 20% of free users into recurring paying subscribers.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CAPITAL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The Investment Ask: Fueling Scale to 500 Buses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Accelerating engineering, driver onboarding, and corridor dominance.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WASALT TRANSIT PLATFORM  |  CONFIDENTIAL INVESTOR 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24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Seed Funding Ask: $250,000 USD (~EGP 12.5M)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Runway: 18 months of aggressive corridor expansion.</a:t>
            </a:r>
            <a:br/>
            <a:br/>
            <a:r>
              <a:t>• Target Milestones:</a:t>
            </a:r>
            <a:br/>
            <a:r>
              <a:t>  - Scale from 100 to 500 active fleet buses.</a:t>
            </a:r>
            <a:br/>
            <a:r>
              <a:t>  - Grow active commuter base from 50k to 250k MAUs.</a:t>
            </a:r>
            <a:br/>
            <a:r>
              <a:t>  - Achieve $15.8M EGP annual run-rate revenue.</a:t>
            </a:r>
            <a:br/>
            <a:r>
              <a:t>  - Launch Phase 1 QR micro-ticketing with InstaPay.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Use of Proceeds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40% Driver Pool &amp; Depot Field Teams: Initial driver incentive escrow, windshield phone mounts, and dedicated depot community managers.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30% Product &amp; Deep-Tech Engineering: Full-time mobile/backend engineers scaling Swarm Intelligence, Crowding AI, and QR payment gateways.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20% Corridor Marketing &amp; Commuter Growth: High-visibility bus exterior/interior QR decals, social proof campaigns, and university campus ambassador loops.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10% Regulatory, Legal &amp; Working Capital: Institutional legal structuring for government MoUs and operational contingency.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EA5E9"/>
                </a:solidFill>
                <a:latin typeface="Segoe UI"/>
              </a:defRPr>
            </a:pPr>
            <a:r>
              <a:t>TRANSFORMING AFRICAN MASS TRANSIT</a:t>
            </a:r>
          </a:p>
          <a:p>
            <a:pPr>
              <a:spcBef>
                <a:spcPts val="800"/>
              </a:spcBef>
              <a:defRPr sz="2200" b="1">
                <a:solidFill>
                  <a:srgbClr val="F8FAFC"/>
                </a:solidFill>
                <a:latin typeface="Segoe UI"/>
              </a:defRPr>
            </a:pPr>
            <a:r>
              <a:t>One Bus, One Driver, and One Commuter at a Time.</a:t>
            </a:r>
          </a:p>
          <a:p>
            <a:pPr>
              <a:spcBef>
                <a:spcPts val="18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Wasalt turns the chaos of Cairo transit into an orderly, predictable, dignified daily routine.</a:t>
            </a:r>
            <a:br/>
            <a:r>
              <a:t>We invite visionary investors to partner with us in building the digital backbone of emerging market mobility.</a:t>
            </a:r>
          </a:p>
          <a:p>
            <a:pPr>
              <a:spcBef>
                <a:spcPts val="2800"/>
              </a:spcBef>
              <a:defRPr sz="1300" b="1">
                <a:solidFill>
                  <a:srgbClr val="F59E0B"/>
                </a:solidFill>
                <a:latin typeface="Segoe UI"/>
              </a:defRPr>
            </a:pPr>
            <a:r>
              <a:t>Kareem  •  Founder &amp; Executive Lead  •  kareem@wasalt.eg</a:t>
            </a:r>
            <a:br/>
            <a:r>
              <a:t>Jarvis  •  Lead Engineering Assistant  •  Cairo, Egypt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WASALT TRANSIT PLATFORM  |  CONFIDENTIAL INVESTOR 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25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